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7625A"/>
                </a:solidFill>
              </a:rPr>
              <a:t>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51515"/>
                </a:solidFill>
              </a:rPr>
              <a:t>West Bengal Elections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9784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Bengal 2026 delivered a record-turnout mandate with a BJP majority and process innovations amid legal scrutiny of voter rolls; the outcome reshapes border governance and welfare–growth choices.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55080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7625A"/>
                </a:solidFill>
              </a:rPr>
              <a:t>Project India | generated presentation draft | verify time-sensitive claims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7625A"/>
                </a:solidFill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51515"/>
                </a:solidFill>
              </a:rPr>
              <a:t>The core evidence should be visible before the argument gets abstract.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57400"/>
            <a:ext cx="3246120" cy="1060704"/>
          </a:xfrm>
          <a:prstGeom prst="rect">
            <a:avLst/>
          </a:prstGeom>
          <a:solidFill>
            <a:srgbClr val="FFFAF0"/>
          </a:solidFill>
          <a:ln>
            <a:solidFill>
              <a:srgbClr val="D2C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85416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D97706"/>
                </a:solidFill>
              </a:rPr>
              <a:t>64445609 persons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56032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51515"/>
                </a:solidFill>
              </a:rPr>
              <a:t>Total electors (final roll)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816352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7625A"/>
                </a:solidFill>
              </a:rPr>
              <a:t>Final roll published for WB SIR 2026 with gender and PwD breakdown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2057400"/>
            <a:ext cx="3246120" cy="1060704"/>
          </a:xfrm>
          <a:prstGeom prst="rect">
            <a:avLst/>
          </a:prstGeom>
          <a:solidFill>
            <a:srgbClr val="FFFAF0"/>
          </a:solidFill>
          <a:ln>
            <a:solidFill>
              <a:srgbClr val="D2C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2185416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D97706"/>
                </a:solidFill>
              </a:rPr>
              <a:t>964 females per 1000 males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1" y="256032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51515"/>
                </a:solidFill>
              </a:rPr>
              <a:t>Gender ratio in rolls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1" y="2816352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7625A"/>
                </a:solidFill>
              </a:rPr>
              <a:t>Improved from 956 (Draft 16-Dec-2025) to 964 on final roll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057400"/>
            <a:ext cx="3246120" cy="1060704"/>
          </a:xfrm>
          <a:prstGeom prst="rect">
            <a:avLst/>
          </a:prstGeom>
          <a:solidFill>
            <a:srgbClr val="FFFAF0"/>
          </a:solidFill>
          <a:ln>
            <a:solidFill>
              <a:srgbClr val="D2C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2185416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D97706"/>
                </a:solidFill>
              </a:rPr>
              <a:t>460479 persons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256032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51515"/>
                </a:solidFill>
              </a:rPr>
              <a:t>PwD electors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816352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7625A"/>
                </a:solidFill>
              </a:rPr>
              <a:t>PwD on draft roll; final roll notes continued inclusion process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474720"/>
            <a:ext cx="3246120" cy="1060704"/>
          </a:xfrm>
          <a:prstGeom prst="rect">
            <a:avLst/>
          </a:prstGeom>
          <a:solidFill>
            <a:srgbClr val="FFFAF0"/>
          </a:solidFill>
          <a:ln>
            <a:solidFill>
              <a:srgbClr val="D2C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602736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D97706"/>
                </a:solidFill>
              </a:rPr>
              <a:t>6006675 entries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97764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51515"/>
                </a:solidFill>
              </a:rPr>
              <a:t>Under adjudication entries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233672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7625A"/>
                </a:solidFill>
              </a:rPr>
              <a:t>Pending quasi-judicial orders for inclusion/deletion during SIR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59" y="3474720"/>
            <a:ext cx="3246120" cy="1060704"/>
          </a:xfrm>
          <a:prstGeom prst="rect">
            <a:avLst/>
          </a:prstGeom>
          <a:solidFill>
            <a:srgbClr val="FFFAF0"/>
          </a:solidFill>
          <a:ln>
            <a:solidFill>
              <a:srgbClr val="D2C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1" y="3602736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D97706"/>
                </a:solidFill>
              </a:rPr>
              <a:t>93.19 percent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1" y="397764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51515"/>
                </a:solidFill>
              </a:rPr>
              <a:t>Turnout Phase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1" y="4233672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7625A"/>
                </a:solidFill>
              </a:rPr>
              <a:t>Highest-ever participation recorded by ECI in WB Phase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474720"/>
            <a:ext cx="3246120" cy="1060704"/>
          </a:xfrm>
          <a:prstGeom prst="rect">
            <a:avLst/>
          </a:prstGeom>
          <a:solidFill>
            <a:srgbClr val="FFFAF0"/>
          </a:solidFill>
          <a:ln>
            <a:solidFill>
              <a:srgbClr val="D2C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94192" y="3602736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D97706"/>
                </a:solidFill>
              </a:rPr>
              <a:t>91.66 percent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397764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51515"/>
                </a:solidFill>
              </a:rPr>
              <a:t>Turnout Phase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4233672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7625A"/>
                </a:solidFill>
              </a:rPr>
              <a:t>Phase 2 poll participation at close of poll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355080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7625A"/>
                </a:solidFill>
              </a:rPr>
              <a:t>Sources embedded in topic_data JSON; verify official/current figures before publication.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7625A"/>
                </a:solidFill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51515"/>
                </a:solidFill>
              </a:rPr>
              <a:t>Turnout then and now: 2011 vs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2514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51515"/>
                </a:solidFill>
              </a:rPr>
              <a:t>2011 Assembly (WB)</a:t>
            </a:r>
          </a:p>
        </p:txBody>
      </p:sp>
      <p:sp>
        <p:nvSpPr>
          <p:cNvPr id="6" name="Rectangle 5"/>
          <p:cNvSpPr/>
          <p:nvPr/>
        </p:nvSpPr>
        <p:spPr>
          <a:xfrm>
            <a:off x="3520440" y="1965960"/>
            <a:ext cx="6217920" cy="228600"/>
          </a:xfrm>
          <a:prstGeom prst="rect">
            <a:avLst/>
          </a:prstGeom>
          <a:solidFill>
            <a:srgbClr val="E5D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20440" y="1965960"/>
            <a:ext cx="5696790" cy="228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193852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51515"/>
                </a:solidFill>
              </a:rPr>
              <a:t>84.72 percent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96312"/>
            <a:ext cx="2514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51515"/>
                </a:solidFill>
              </a:rPr>
              <a:t>2026 Assembly (WB, combined)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2496312"/>
            <a:ext cx="6217920" cy="228600"/>
          </a:xfrm>
          <a:prstGeom prst="rect">
            <a:avLst/>
          </a:prstGeom>
          <a:solidFill>
            <a:srgbClr val="E5D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2496312"/>
            <a:ext cx="6217920" cy="228600"/>
          </a:xfrm>
          <a:prstGeom prst="rect">
            <a:avLst/>
          </a:prstGeom>
          <a:solidFill>
            <a:srgbClr val="31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21240" y="2468880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51515"/>
                </a:solidFill>
              </a:rPr>
              <a:t>92.47 percent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355080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7625A"/>
                </a:solidFill>
              </a:rPr>
              <a:t>PIB PRID 2256756; ADR (2021 turnout baseline)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7625A"/>
                </a:solidFill>
              </a:rPr>
              <a:t>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51515"/>
                </a:solidFill>
              </a:rPr>
              <a:t>The story should be anchored in dates, not only interpretation.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971800"/>
            <a:ext cx="10332720" cy="27432"/>
          </a:xfrm>
          <a:prstGeom prst="rect">
            <a:avLst/>
          </a:prstGeom>
          <a:solidFill>
            <a:srgbClr val="CFC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898648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0487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51515"/>
                </a:solidFill>
              </a:rPr>
              <a:t>2026-02-28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19" y="3227832"/>
            <a:ext cx="1325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7625A"/>
                </a:solidFill>
              </a:rPr>
              <a:t>Final electoral roll published (SIR 2026)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2898648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23744" y="240487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51515"/>
                </a:solidFill>
              </a:rPr>
              <a:t>2026-03-15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0864" y="3227832"/>
            <a:ext cx="1325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7625A"/>
                </a:solidFill>
              </a:rPr>
              <a:t>ECI announces Bengal poll schedule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10328" y="2898648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40487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51515"/>
                </a:solidFill>
              </a:rPr>
              <a:t>2026-04-23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3227832"/>
            <a:ext cx="1325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7625A"/>
                </a:solidFill>
              </a:rPr>
              <a:t>Phase 1 polling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76872" y="2898648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6832" y="240487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51515"/>
                </a:solidFill>
              </a:rPr>
              <a:t>2026-04-29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227832"/>
            <a:ext cx="1325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7625A"/>
                </a:solidFill>
              </a:rPr>
              <a:t>Phase 2 polling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43416" y="2898648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3376" y="240487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51515"/>
                </a:solidFill>
              </a:rPr>
              <a:t>2026-05-02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0496" y="3227832"/>
            <a:ext cx="1325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7625A"/>
                </a:solidFill>
              </a:rPr>
              <a:t>Repoll in 15 booths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109960" y="2898648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0" y="240487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51515"/>
                </a:solidFill>
              </a:rPr>
              <a:t>2026-05-04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3227832"/>
            <a:ext cx="1325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7625A"/>
                </a:solidFill>
              </a:rPr>
              <a:t>Counting day (293/294 ACs)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355080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7625A"/>
                </a:solidFill>
              </a:rPr>
              <a:t>Timeline generated from structured topic_data; check source log for provenance.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7625A"/>
                </a:solidFill>
              </a:rPr>
              <a:t>DATA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51515"/>
                </a:solidFill>
              </a:rPr>
              <a:t>West Bengal 2026 Assembly Results (Declared) vs 2021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965960"/>
          <a:ext cx="1060704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489857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Party</a:t>
                      </a:r>
                    </a:p>
                  </a:txBody>
                  <a:tcPr>
                    <a:solidFill>
                      <a:srgbClr val="2421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2026 Seats (declared)</a:t>
                      </a:r>
                    </a:p>
                  </a:txBody>
                  <a:tcPr>
                    <a:solidFill>
                      <a:srgbClr val="2421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2021 Seats</a:t>
                      </a:r>
                    </a:p>
                  </a:txBody>
                  <a:tcPr>
                    <a:solidFill>
                      <a:srgbClr val="24211D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51515"/>
                          </a:solidFill>
                        </a:rPr>
                        <a:t>BJP</a:t>
                      </a:r>
                    </a:p>
                  </a:txBody>
                  <a:tcPr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51515"/>
                          </a:solidFill>
                        </a:rPr>
                        <a:t>207</a:t>
                      </a:r>
                    </a:p>
                  </a:txBody>
                  <a:tcPr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51515"/>
                          </a:solidFill>
                        </a:rPr>
                        <a:t>77</a:t>
                      </a:r>
                    </a:p>
                  </a:txBody>
                  <a:tcPr>
                    <a:solidFill>
                      <a:srgbClr val="FFFAF0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51515"/>
                          </a:solidFill>
                        </a:rPr>
                        <a:t>AITC</a:t>
                      </a:r>
                    </a:p>
                  </a:txBody>
                  <a:tcPr>
                    <a:solidFill>
                      <a:srgbClr val="F7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51515"/>
                          </a:solidFill>
                        </a:rPr>
                        <a:t>80</a:t>
                      </a:r>
                    </a:p>
                  </a:txBody>
                  <a:tcPr>
                    <a:solidFill>
                      <a:srgbClr val="F7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51515"/>
                          </a:solidFill>
                        </a:rPr>
                        <a:t>213</a:t>
                      </a:r>
                    </a:p>
                  </a:txBody>
                  <a:tcPr>
                    <a:solidFill>
                      <a:srgbClr val="F7F1E7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51515"/>
                          </a:solidFill>
                        </a:rPr>
                        <a:t>INC</a:t>
                      </a:r>
                    </a:p>
                  </a:txBody>
                  <a:tcPr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51515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51515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AF0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51515"/>
                          </a:solidFill>
                        </a:rPr>
                        <a:t>CPI(M)</a:t>
                      </a:r>
                    </a:p>
                  </a:txBody>
                  <a:tcPr>
                    <a:solidFill>
                      <a:srgbClr val="F7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51515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7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51515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7F1E7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51515"/>
                          </a:solidFill>
                        </a:rPr>
                        <a:t>AISF</a:t>
                      </a:r>
                    </a:p>
                  </a:txBody>
                  <a:tcPr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51515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51515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AF0"/>
                    </a:solidFill>
                  </a:tcPr>
                </a:tc>
              </a:tr>
              <a:tr h="48985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51515"/>
                          </a:solidFill>
                        </a:rPr>
                        <a:t>AJUP</a:t>
                      </a:r>
                    </a:p>
                  </a:txBody>
                  <a:tcPr>
                    <a:solidFill>
                      <a:srgbClr val="F7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51515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7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51515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7F1E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355080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7625A"/>
                </a:solidFill>
              </a:rPr>
              <a:t>ECI results portal (2026); PRS 2021 profile/ADR for 2021 baseline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7625A"/>
                </a:solidFill>
              </a:rPr>
              <a:t>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51515"/>
                </a:solidFill>
              </a:rPr>
              <a:t>Claim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9784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Proof object:</a:t>
            </a:r>
          </a:p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Evidence:</a:t>
            </a:r>
          </a:p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Source: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55080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7625A"/>
                </a:solidFill>
              </a:rPr>
              <a:t>Project India | generated presentation draft | verify time-sensitive claims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7625A"/>
                </a:solidFill>
              </a:rPr>
              <a:t>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51515"/>
                </a:solidFill>
              </a:rPr>
              <a:t>Record participation, compressed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9784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Proof object: Phase-wise turnout table (P1, P2, combined) and dates</a:t>
            </a:r>
          </a:p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Evidence: 93.19%, 91.66%, 92.47%; Apr 23/29; May 4 counting</a:t>
            </a:r>
          </a:p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Source: PIB PRIDs 2253728, 2256756. ([pib.gov.in](https://www.pib.gov.in/PressReleasePage.aspx?PRID=2253728))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55080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7625A"/>
                </a:solidFill>
              </a:rPr>
              <a:t>Project India | generated presentation draft | verify time-sensitive claims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7625A"/>
                </a:solidFill>
              </a:rPr>
              <a:t>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51515"/>
                </a:solidFill>
              </a:rPr>
              <a:t>The mandate map: who won 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9784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Proof object: Party-wise seats, district heat map; Falta flagged “pending”</a:t>
            </a:r>
          </a:p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Evidence: BJP 207; AITC 80; others 6; 293/294 declared</a:t>
            </a:r>
          </a:p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Source: ECI results pages. ([results.eci.gov.in](https://results.eci.gov.in/ResultAcGenMay2026/partywiseresult-S25.htm))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55080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7625A"/>
                </a:solidFill>
              </a:rPr>
              <a:t>Project India | generated presentation draft | verify time-sensitive claims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7625A"/>
                </a:solidFill>
              </a:rPr>
              <a:t>SLIDE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51515"/>
                </a:solidFill>
              </a:rPr>
              <a:t>Voter rolls at scale: what changed in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9784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Proof object: Final roll metrics (6.445 cr; GR 964; 60.06 lakh under adjudication)</a:t>
            </a:r>
          </a:p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Evidence: CEO PN-05/2026 table</a:t>
            </a:r>
          </a:p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Source: CEO West Bengal press note (Feb 28, 2026). ([wbceo.wb.gov.in](https://wbceo.wb.gov.in/Downloads/News/Final%20Press%20Note%20CEO-PN-05-2026.pdf))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55080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7625A"/>
                </a:solidFill>
              </a:rPr>
              <a:t>Project India | generated presentation draft | verify time-sensitive claims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7625A"/>
                </a:solidFill>
              </a:rPr>
              <a:t>SLIDE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51515"/>
                </a:solidFill>
              </a:rPr>
              <a:t>Security footprint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9784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Proof object: CAPF companies over time (480→~780) and post-poll 500 companies retained</a:t>
            </a:r>
          </a:p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Evidence: MHA/ECI communications via national dailies; NDTV 2.4 lakh personnel</a:t>
            </a:r>
          </a:p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Source: Indian Express, Business Standard/ET, NDTV. ([indianexpress.com](https://indianexpress.com/article/cities/kolkata/bengal-2026-poll-preparations-mha-to-deploy-480-capf-companies-by-march-10-10544569/lite/?utm_source=openai))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55080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7625A"/>
                </a:solidFill>
              </a:rPr>
              <a:t>Project India | generated presentation draft | verify time-sensitive claims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7625A"/>
                </a:solidFill>
              </a:rPr>
              <a:t>SLIDE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51515"/>
                </a:solidFill>
              </a:rPr>
              <a:t>Repolls and red flags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9784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Proof object: May 2 (15 booths) and Falta full re-poll order</a:t>
            </a:r>
          </a:p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Evidence: Constituencies affected; Section 58/58A references</a:t>
            </a:r>
          </a:p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Source: TOI/NDTV/ET coverage of ECI orders. ([timesofindia.indiatimes.com](https://timesofindia.indiatimes.com/india/ec-orders-repoll-in-15-booths-across-bengals-magrahat-paschim-diamond-harbour-on-may-2/articleshow/130678633.cms?utm_source=openai))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55080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7625A"/>
                </a:solidFill>
              </a:rPr>
              <a:t>Project India | generated presentation draft | verify time-sensitive claims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7625A"/>
                </a:solidFill>
              </a:rPr>
              <a:t>SLIDE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51515"/>
                </a:solidFill>
              </a:rPr>
              <a:t>Border state, national stakes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9784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Proof object: Border length/fencing status; Petrapole corridor</a:t>
            </a:r>
          </a:p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Evidence: 2,216.7 km WB–BD border; coverage fenced</a:t>
            </a:r>
          </a:p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Source: PIB (MHA) PR. ([pib.gov.in](https://www.pib.gov.in/PressReleasePage.aspx?PRID=2158419&amp;utm_source=openai))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55080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7625A"/>
                </a:solidFill>
              </a:rPr>
              <a:t>Project India | generated presentation draft | verify time-sensitive claims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7625A"/>
                </a:solidFill>
              </a:rPr>
              <a:t>SLIDE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51515"/>
                </a:solidFill>
              </a:rPr>
              <a:t>Policy continuity vs. reset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9784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Proof object: Scale of flagship schemes (LB, Kanyashree, etc.)</a:t>
            </a:r>
          </a:p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Evidence: 1.98 cr LB beneficiaries; 85.53 lakh Kanyashree; FY24 spends</a:t>
            </a:r>
          </a:p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Source: WB Budget Speech 2024. ([finance.wb.gov.in](https://finance.wb.gov.in/writereaddata/Budget_Speech/2024_English.pdf))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55080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7625A"/>
                </a:solidFill>
              </a:rPr>
              <a:t>Project India | generated presentation draft | verify time-sensitive claims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7625A"/>
                </a:solidFill>
              </a:rPr>
              <a:t>SLIDE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51515"/>
                </a:solidFill>
              </a:rPr>
              <a:t>Comparative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9784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Proof object: Turnout trend (2011→2026); 2021 vs 2026 seat bars</a:t>
            </a:r>
          </a:p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Evidence: 84.72% (2011) to 92.47% (2026); AITC 213 (2021) vs BJP 207 (2026)</a:t>
            </a:r>
          </a:p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Source: PIB turnout table; PRS 2021 profile; ECI results. ([pib.gov.in](https://www.pib.gov.in/PressReleasePage.aspx?PRID=2256756))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55080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7625A"/>
                </a:solidFill>
              </a:rPr>
              <a:t>Project India | generated presentation draft | verify time-sensitive claims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7625A"/>
                </a:solidFill>
              </a:rPr>
              <a:t>SLIDE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51515"/>
                </a:solidFill>
              </a:rPr>
              <a:t>Scenarios for 2026–27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9784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Proof object: 2x2 matrix (policy alignment x institutional friction)</a:t>
            </a:r>
          </a:p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Evidence: Cabinet, budget timing; litigation pipeline; border investments</a:t>
            </a:r>
          </a:p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Source: Aggregated primary docs (ECI/PIB/CEO). ([pib.gov.in](https://www.pib.gov.in/PressReleasePage.aspx?PRID=2253728))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55080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7625A"/>
                </a:solidFill>
              </a:rPr>
              <a:t>Project India | generated presentation draft | verify time-sensitive claims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7625A"/>
                </a:solidFill>
              </a:rPr>
              <a:t>SLIDE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51515"/>
                </a:solidFill>
              </a:rPr>
              <a:t>What to watch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9784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Proof object: Timeline to Falta result; swearing-in; budget session</a:t>
            </a:r>
          </a:p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Evidence: May 21 re-poll; May 24 result; expected government formation window</a:t>
            </a:r>
          </a:p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Source: ET report on Falta; ECI schedule notes. ([m.economictimes.com](https://m.economictimes.com/news/elections/assembly-elections/west-bengal/ec-orders-fresh-polls-at-all-285-booths-in-bengals-falta-constituency/amp_articleshow/130720846.cms?utm_source=openai))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55080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7625A"/>
                </a:solidFill>
              </a:rPr>
              <a:t>Project India | generated presentation draft | verify time-sensitive claims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7625A"/>
                </a:solidFill>
              </a:rPr>
              <a:t>DATA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51515"/>
                </a:solidFill>
              </a:rPr>
              <a:t>The deck should be honest about what is still missing.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9784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ECI’s consolidated Statistical Report for WB Assembly 2026 (vote shares, NOTA, gender/age participation) not yet available as a static PDF.</a:t>
            </a:r>
          </a:p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Definitive, single-source CAPF headcount and deployment-by-district matrix; current figures are from official briefings reported by media.</a:t>
            </a:r>
          </a:p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Granular turnout and margin analytics at AC level merged with 2024 LS segment data require a cleaned, joined dataset.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55080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7625A"/>
                </a:solidFill>
              </a:rPr>
              <a:t>Project India | generated presentation draft | verify time-sensitive claims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