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2e2d4aef4460f" /><Relationship Type="http://schemas.openxmlformats.org/officeDocument/2006/relationships/extended-properties" Target="/docProps/app.xml" Id="Re2a8f750623b47d1" /><Relationship Type="http://schemas.openxmlformats.org/officeDocument/2006/relationships/officeDocument" Target="/ppt/presentation.xml" Id="R1fb450b063e944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4bdb734aa4352"/>
  </p:sldMasterIdLst>
  <p:notesMasterIdLst>
    <p:notesMasterId xmlns:r="http://schemas.openxmlformats.org/officeDocument/2006/relationships" r:id="R7202ed94546d44eb"/>
  </p:notesMasterIdLst>
  <p:sldIdLst>
    <p:sldId xmlns:r="http://schemas.openxmlformats.org/officeDocument/2006/relationships" id="256" r:id="R9a7c89f917474da5"/>
    <p:sldId xmlns:r="http://schemas.openxmlformats.org/officeDocument/2006/relationships" id="257" r:id="R9f472fd32261426d"/>
    <p:sldId xmlns:r="http://schemas.openxmlformats.org/officeDocument/2006/relationships" id="258" r:id="Rd39403b967094ba9"/>
    <p:sldId xmlns:r="http://schemas.openxmlformats.org/officeDocument/2006/relationships" id="259" r:id="R0f012ce8898b407f"/>
    <p:sldId xmlns:r="http://schemas.openxmlformats.org/officeDocument/2006/relationships" id="260" r:id="Rd173a0d62d6a4145"/>
    <p:sldId xmlns:r="http://schemas.openxmlformats.org/officeDocument/2006/relationships" id="261" r:id="R075e6ea30b2b460f"/>
    <p:sldId xmlns:r="http://schemas.openxmlformats.org/officeDocument/2006/relationships" id="262" r:id="R81c8e725f1704407"/>
    <p:sldId xmlns:r="http://schemas.openxmlformats.org/officeDocument/2006/relationships" id="263" r:id="R26630a6fd5b04482"/>
    <p:sldId xmlns:r="http://schemas.openxmlformats.org/officeDocument/2006/relationships" id="264" r:id="R8c587f8b4d574a18"/>
    <p:sldId xmlns:r="http://schemas.openxmlformats.org/officeDocument/2006/relationships" id="265" r:id="R9631e435f66549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4bdb734aa4352" /><Relationship Type="http://schemas.openxmlformats.org/officeDocument/2006/relationships/theme" Target="/ppt/theme/theme1.xml" Id="R83a9d59c5e0a4643" /><Relationship Type="http://schemas.openxmlformats.org/officeDocument/2006/relationships/notesMaster" Target="/ppt/notesMasters/notesMaster1.xml" Id="R7202ed94546d44eb" /><Relationship Type="http://schemas.openxmlformats.org/officeDocument/2006/relationships/presProps" Target="/ppt/presProps.xml" Id="R624cd21e487d4c72" /><Relationship Type="http://schemas.openxmlformats.org/officeDocument/2006/relationships/viewProps" Target="/ppt/viewProps.xml" Id="Ra08bfb4e7348495b" /><Relationship Type="http://schemas.openxmlformats.org/officeDocument/2006/relationships/tableStyles" Target="/ppt/tableStyles.xml" Id="R9d5d412d9b344bb2" /><Relationship Type="http://schemas.openxmlformats.org/officeDocument/2006/relationships/slide" Target="/ppt/slides/slide1.xml" Id="R9a7c89f917474da5" /><Relationship Type="http://schemas.openxmlformats.org/officeDocument/2006/relationships/slide" Target="/ppt/slides/slide2.xml" Id="R9f472fd32261426d" /><Relationship Type="http://schemas.openxmlformats.org/officeDocument/2006/relationships/slide" Target="/ppt/slides/slide3.xml" Id="Rd39403b967094ba9" /><Relationship Type="http://schemas.openxmlformats.org/officeDocument/2006/relationships/slide" Target="/ppt/slides/slide4.xml" Id="R0f012ce8898b407f" /><Relationship Type="http://schemas.openxmlformats.org/officeDocument/2006/relationships/slide" Target="/ppt/slides/slide5.xml" Id="Rd173a0d62d6a4145" /><Relationship Type="http://schemas.openxmlformats.org/officeDocument/2006/relationships/slide" Target="/ppt/slides/slide6.xml" Id="R075e6ea30b2b460f" /><Relationship Type="http://schemas.openxmlformats.org/officeDocument/2006/relationships/slide" Target="/ppt/slides/slide7.xml" Id="R81c8e725f1704407" /><Relationship Type="http://schemas.openxmlformats.org/officeDocument/2006/relationships/slide" Target="/ppt/slides/slide8.xml" Id="R26630a6fd5b04482" /><Relationship Type="http://schemas.openxmlformats.org/officeDocument/2006/relationships/slide" Target="/ppt/slides/slide9.xml" Id="R8c587f8b4d574a18" /><Relationship Type="http://schemas.openxmlformats.org/officeDocument/2006/relationships/slide" Target="/ppt/slides/slide10.xml" Id="R9631e435f66549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27d4fed769240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59e39b67594f25" /><Relationship Type="http://schemas.openxmlformats.org/officeDocument/2006/relationships/notesMaster" Target="/ppt/notesMasters/notesMaster1.xml" Id="R8cd4645880004f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1b2301d410451a" /><Relationship Type="http://schemas.openxmlformats.org/officeDocument/2006/relationships/notesMaster" Target="/ppt/notesMasters/notesMaster1.xml" Id="Rcd750190498242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efeaa120bb4b2f" /><Relationship Type="http://schemas.openxmlformats.org/officeDocument/2006/relationships/notesMaster" Target="/ppt/notesMasters/notesMaster1.xml" Id="R7b227aa62e4245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ef7a10dec64d7d" /><Relationship Type="http://schemas.openxmlformats.org/officeDocument/2006/relationships/notesMaster" Target="/ppt/notesMasters/notesMaster1.xml" Id="Rbf3c53ea4fb54b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fdc71e4da14a30" /><Relationship Type="http://schemas.openxmlformats.org/officeDocument/2006/relationships/notesMaster" Target="/ppt/notesMasters/notesMaster1.xml" Id="Rc89dd555cde744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e41ae95de74e7d" /><Relationship Type="http://schemas.openxmlformats.org/officeDocument/2006/relationships/notesMaster" Target="/ppt/notesMasters/notesMaster1.xml" Id="R3e741e28601e46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d7b2047a384889" /><Relationship Type="http://schemas.openxmlformats.org/officeDocument/2006/relationships/notesMaster" Target="/ppt/notesMasters/notesMaster1.xml" Id="R3df001b7787646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155e61e4094d6a" /><Relationship Type="http://schemas.openxmlformats.org/officeDocument/2006/relationships/notesMaster" Target="/ppt/notesMasters/notesMaster1.xml" Id="R986f94d0aea54d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40c788a390405b" /><Relationship Type="http://schemas.openxmlformats.org/officeDocument/2006/relationships/notesMaster" Target="/ppt/notesMasters/notesMaster1.xml" Id="R4033288e99454b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413021eabc44a4" /><Relationship Type="http://schemas.openxmlformats.org/officeDocument/2006/relationships/notesMaster" Target="/ppt/notesMasters/notesMaster1.xml" Id="R2c8767a1e611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9a10519dd41e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df340e3d3c462c" /><Relationship Type="http://schemas.openxmlformats.org/officeDocument/2006/relationships/slideLayout" Target="/ppt/slideLayouts/slideLayout2.xml" Id="Rc76626c8a82e4f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6626c8a82e4f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42100e3a07467e" /><Relationship Type="http://schemas.openxmlformats.org/officeDocument/2006/relationships/notesSlide" Target="/ppt/notesSlides/notesSlide1.xml" Id="Ra877ea9acb6a40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6eebfe6d504c79" /><Relationship Type="http://schemas.openxmlformats.org/officeDocument/2006/relationships/notesSlide" Target="/ppt/notesSlides/notesSlide2.xml" Id="Rc5db0e5ba9e445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9d2a6f8fd0493b" /><Relationship Type="http://schemas.openxmlformats.org/officeDocument/2006/relationships/notesSlide" Target="/ppt/notesSlides/notesSlide3.xml" Id="R163d41c88e5b43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653501bcd44125" /><Relationship Type="http://schemas.openxmlformats.org/officeDocument/2006/relationships/notesSlide" Target="/ppt/notesSlides/notesSlide4.xml" Id="R520794d7dc4046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24ccb728b7430f" /><Relationship Type="http://schemas.openxmlformats.org/officeDocument/2006/relationships/notesSlide" Target="/ppt/notesSlides/notesSlide5.xml" Id="Rfcbaedd5844f4d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ac68ea71b24ed3" /><Relationship Type="http://schemas.openxmlformats.org/officeDocument/2006/relationships/notesSlide" Target="/ppt/notesSlides/notesSlide6.xml" Id="R81591a9aab554a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178cc306c04941" /><Relationship Type="http://schemas.openxmlformats.org/officeDocument/2006/relationships/notesSlide" Target="/ppt/notesSlides/notesSlide7.xml" Id="R4a91f71fdcbc46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eb592d260f4ba1" /><Relationship Type="http://schemas.openxmlformats.org/officeDocument/2006/relationships/notesSlide" Target="/ppt/notesSlides/notesSlide8.xml" Id="R104e8fde09d240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d3a26c29aa487a" /><Relationship Type="http://schemas.openxmlformats.org/officeDocument/2006/relationships/notesSlide" Target="/ppt/notesSlides/notesSlide9.xml" Id="R657aec6407e741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a9ddfb9ea547be" /><Relationship Type="http://schemas.openxmlformats.org/officeDocument/2006/relationships/notesSlide" Target="/ppt/notesSlides/notesSlide10.xml" Id="Ra8680e6f3e2243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422558-4CA1-4A79-842E-805C43B7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F2BAD-EA5E-4E89-9877-857D4ED0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5F5C8-A049-4832-8C19-8A215B48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C77D6-0D43-4BAD-AE22-F2F9A17D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B15E"/>
                </a:solidFill>
                <a:latin typeface="Aptos"/>
                <a:ea typeface="Aptos"/>
                <a:cs typeface="Aptos"/>
              </a:rPr>
              <a:t>VERDICT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FA965-B6A5-4E33-830F-FFE9DF2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rPr>
              <a:t>Bengal became BJP's biggest eastern breakthrough.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3798B-D4F6-4D88-ACB8-50B00023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0C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0C4"/>
                </a:solidFill>
                <a:latin typeface="Aptos"/>
                <a:ea typeface="Aptos"/>
                <a:cs typeface="Aptos"/>
              </a:rPr>
              <a:t>West Bengal Assembly Election 2026 - first analytical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781F0-A71F-476A-BD3B-100B71D5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A"/>
          </a:solidFill>
          <a:ln xmlns:a="http://schemas.openxmlformats.org/drawingml/2006/main" w="9525">
            <a:solidFill>
              <a:srgbClr val="5E5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0BC85-0176-41ED-9803-331F1C94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5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2B15E"/>
                </a:solidFill>
                <a:latin typeface="Aptos Display"/>
                <a:ea typeface="Aptos Display"/>
                <a:cs typeface="Aptos Display"/>
              </a:rPr>
              <a:t>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C5214-A915-48AD-97B6-A30DC784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4B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4B2"/>
                </a:solidFill>
                <a:latin typeface="Aptos"/>
                <a:ea typeface="Aptos"/>
                <a:cs typeface="Aptos"/>
              </a:rPr>
              <a:t>BJP seats reported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1C7D5-265C-4B4F-A6FF-6712F726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148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A"/>
          </a:solidFill>
          <a:ln xmlns:a="http://schemas.openxmlformats.org/drawingml/2006/main" w="9525">
            <a:solidFill>
              <a:srgbClr val="5E55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8FC4C-995A-4DBD-BBA0-D51C996E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rPr>
              <a:t>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7B9CB-4C51-4905-9C5E-81B20D93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4B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4B2"/>
                </a:solidFill>
                <a:latin typeface="Aptos"/>
                <a:ea typeface="Aptos"/>
                <a:cs typeface="Aptos"/>
              </a:rPr>
              <a:t>TMC seats reported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E71DB-0A2C-40DA-ADD2-CE451CFD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148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A"/>
          </a:solidFill>
          <a:ln xmlns:a="http://schemas.openxmlformats.org/drawingml/2006/main" w="9525">
            <a:solidFill>
              <a:srgbClr val="5E55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8D08B-F3B6-4ADA-BE0C-77FA9F5E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rPr>
              <a:t>May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BD5A6-06E0-4DDB-A9C4-DFAF04C5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434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4B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4B2"/>
                </a:solidFill>
                <a:latin typeface="Aptos"/>
                <a:ea typeface="Aptos"/>
                <a:cs typeface="Aptos"/>
              </a:rPr>
              <a:t>Adhikari oath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F1A4E-2462-4DF8-B689-E3516124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148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F2A"/>
          </a:solidFill>
          <a:ln xmlns:a="http://schemas.openxmlformats.org/drawingml/2006/main" w="9525">
            <a:solidFill>
              <a:srgbClr val="5E55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F926A-7465-4B53-9BE8-5F0054F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86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rPr>
              <a:t>ECI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18821-5042-491A-933A-DDBD79D1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434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FC4B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FC4B2"/>
                </a:solidFill>
                <a:latin typeface="Aptos"/>
                <a:ea typeface="Aptos"/>
                <a:cs typeface="Aptos"/>
              </a:rPr>
              <a:t>final data pending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75C2A-9C37-476B-A9C6-47BD82EB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52CDB-5AD9-4161-B692-41267582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Early media-reported figures; verify against final Election Commission of India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C554C-5D0D-46CE-8681-2CDDD7E2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Project India / 01</a:t>
            </a:r>
          </a:p>
        </p:txBody>
      </p:sp>
    </p:spTree>
    <p:extLst>
      <p:ext uri="{BB962C8B-B14F-4D97-AF65-F5344CB8AC3E}">
        <p14:creationId xmlns:p14="http://schemas.microsoft.com/office/powerpoint/2010/main" val="4041902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D6F0F2-5064-4C59-BBA6-AB33148F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AFE103-F674-4956-9506-27D355A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588308-BC30-4472-BE91-2EEB492B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SEAT CONVERSION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A32F7-068C-40EC-8F6B-C0EDA26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reported verdict is a decisive seat landslide, not a narrow changeover.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82C1A-20AA-4816-8CE0-97A0F4D9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657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39DCF-B566-4B28-95BF-B439E024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638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BJP 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09494-D526-422F-9DDC-37315FF6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2540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1ED60-7175-4C38-9F96-22F562CE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71800"/>
            <a:ext cx="234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TMC 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CF94C-63B0-46E7-9F6B-328A8487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850" y="2686050"/>
            <a:ext cx="22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494ED-891C-4841-B1C3-8A71B1FE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718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Other / pending: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42509-B3B6-47E2-87EF-0757F1A8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Reported seat tally,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8A7C8-B302-4331-BCC7-FB019564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Majority mark: 148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5F99F-5B98-41A2-83A5-A1026564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245745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3BBF1-2033-48F9-843C-54E5AD88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150" y="21717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148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30D28-6C6D-415E-9389-E6313836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Read this first as seat conversion. Vote share and margins still need official ECI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935CD-3F33-4855-B7C2-6ABAA85C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C6293-8C2C-4BED-962F-FDA753D1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Reported for 293 of 294 seats in early coverage; Falta requires final verification.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1E596-AF4D-40D1-9E01-EA3D351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Project India / 02</a:t>
            </a:r>
          </a:p>
        </p:txBody>
      </p:sp>
    </p:spTree>
    <p:extLst>
      <p:ext uri="{BB962C8B-B14F-4D97-AF65-F5344CB8AC3E}">
        <p14:creationId xmlns:p14="http://schemas.microsoft.com/office/powerpoint/2010/main" val="6788908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8882F2-5FBA-4630-9C02-489D014E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2176F2-D008-45A2-BEDC-1DE65183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EEDE79A-E892-40AF-ADFD-6BFD0A54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ABEBC-A9B9-47B9-BAA7-AFB14009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Bengal is where federal politics, border geography, and welfare governance meet.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E54FE-03CD-463A-8531-171C48CF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18669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6B5CA-2844-4C18-8358-847143EF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rPr>
              <a:t>WEST</a:t>
            </a:r>
          </a:p>
          <a:p xmlns:a="http://schemas.openxmlformats.org/drawingml/2006/main">
            <a:pPr algn="ctr">
              <a:defRPr sz="19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rPr>
              <a:t>BENGAL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7AC49-36F8-4D13-9E56-433467A4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E0D24-5C05-43D7-9B83-933347A1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34D21-5F3A-4E35-AFC6-E8A483CF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Federal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C4DD0-D4F2-460B-8840-8D085FF6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BJP government changes the opposition geography before 2029.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782E9-D0E7-4333-B2A2-C63131B3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283F6-A1F5-40D1-A187-2DF4A4A9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CF44E-C5F9-4D8D-ACE1-76846952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Border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2DA4E-D68A-43CB-B9D4-B854B50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Bangladesh-border politics makes security and migration narratives sharper.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6C6A8-B463-415D-A213-FDBB4B10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42F85-DA23-47EF-9DF3-7A62C023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73D6A-A70B-4E83-9C6C-E8919C33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Welfare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C4881-D196-42C5-85A2-ECCAA927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TMC-era schemes create a test of continuity, rebranding, or rollback.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0CAF3-EBF9-4E25-9E84-123FAE96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56166-CB50-4520-A715-437EDA63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FA23F-EF7C-44ED-8CB5-26FAFD91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005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Cultural weight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7F455-B3A6-4310-B01B-CEA6F4A2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053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Bengal's identity makes a national-party breakthrough symbolically large.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38FA9-BCC1-4C89-9D29-5678E18A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958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2F0B69-A2F5-4011-A72D-379279E2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958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E878A-13F0-4E30-BE6F-5BD34EAF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673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Industrial reset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8E4E7-6A69-493E-8D0F-FF39F53E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7210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The mandate opens space for infrastructure and jobs claims to be tested.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FE0F58-8E84-4113-AD00-A9E174B9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497F29-B3E0-4D72-BD13-D61D95A1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Sources: Project India source log; early figures pending ECI verification.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6A84E4-6685-4BD6-B9E1-BB0A635B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Project India / 03</a:t>
            </a:r>
          </a:p>
        </p:txBody>
      </p:sp>
    </p:spTree>
    <p:extLst>
      <p:ext uri="{BB962C8B-B14F-4D97-AF65-F5344CB8AC3E}">
        <p14:creationId xmlns:p14="http://schemas.microsoft.com/office/powerpoint/2010/main" val="15866902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869452-849B-484E-B778-9C7B87E7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1E24072-5EBB-4D93-82E6-0E02ABF5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D37AF4-0B0D-46D1-9DF1-9A8854B3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58BCC-44DC-4374-9398-28DC5002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transition moved from two-phase polling to oath-taking in just over two weeks.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FF21D-432F-4B1F-9807-57E50621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5E61B-E9CF-47C2-AAB4-52AD3853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41494-135E-4C0A-B51C-D7FA9A4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Apr 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3215C-0C0E-4DFE-BC9B-88D87506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8290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Phase I polling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5A82D-1C1C-4B75-A72C-C0B1F87C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2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ECE10-CD6E-4407-A0A0-9CD0F0CE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Apr 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6E91F-D6A3-40C0-8D18-C9F38D03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290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Phase II polling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3E699-5125-4DA8-A286-1F14DBD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96F9B-66AA-4E7B-8F4B-EFCC2068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May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8E1F2-4568-4ED0-ACAC-2A2EE6E3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290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Counting 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18C4F-5E64-486F-A3A2-58E58EC7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E0493-1604-4A3C-B422-F5A9B08A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May 4+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74499-71D3-4081-AE4D-9A100ED6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290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Falta verification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8F3F0-06D8-4B7A-8BA9-30AD20CA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2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FCEEC-EEC4-4827-ACB8-47F5EE51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May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D9E7F-BE76-415B-AF22-4412CEF1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290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Suvendu Adhikari sworn 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B7521-CA31-44C0-A5ED-AB80AAE4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904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The first deck should treat this as a live verification timeline, not a completed historical record.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536CA-8BE5-465C-8387-19B4285E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30286-609E-457D-81D9-50DF1042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Sources: Project India source log; early figures pending ECI verification.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0F51C-CA3F-4838-A5E8-A6FB78E1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Project India / 04</a:t>
            </a:r>
          </a:p>
        </p:txBody>
      </p:sp>
    </p:spTree>
    <p:extLst>
      <p:ext uri="{BB962C8B-B14F-4D97-AF65-F5344CB8AC3E}">
        <p14:creationId xmlns:p14="http://schemas.microsoft.com/office/powerpoint/2010/main" val="19517890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2283B0-4188-4852-BEF0-23309AF6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EB43A05-6C06-4335-A540-3BA39A9D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4388D3-5EF9-48BD-8B27-05CA83B0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REALIGNMENT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F3AAC-4573-4181-A264-575D54DC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BJP's reported jump from 77 to 207 seats is the central political fact.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221CA-2C7D-4ACC-837C-CF99648F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BJP 2021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6D136-44E7-4A8E-87AC-87204FBC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A0BC7-554E-45DF-BFDA-357A83F8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E9752-06A0-4735-9BD5-1239F061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62225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81D71-9090-4B9C-B1C0-E2D6D20F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BJP 2026 reported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54724-7262-4D9C-9569-FA93B19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E8472-1607-42A6-BC34-F931A337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609426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A1C20-E0EB-43D1-A220-E03CBDD7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52825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207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D2988-870A-4967-A277-F2D08872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TMC 2026 reported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24EB5-1B95-4026-8640-0E687306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529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9380E-120F-41DC-918C-6B6B034D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52950"/>
            <a:ext cx="235527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60A73-9A30-4F2D-AC0E-6AED26FE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3425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26B00-1DB5-43F3-91D7-A59357BF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+130 seats versus BJP's 2021 position, based on reported 2026 tally.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AA207-9EEE-44FE-BB67-2EBFA76B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089A0-171E-40F1-BCAC-0475BECF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2021 BJP seats from prior Assembly result; 2026 figure is early reported count.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ADEA0-DBF4-4B54-9E96-B399EE97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Project India / 05</a:t>
            </a:r>
          </a:p>
        </p:txBody>
      </p:sp>
    </p:spTree>
    <p:extLst>
      <p:ext uri="{BB962C8B-B14F-4D97-AF65-F5344CB8AC3E}">
        <p14:creationId xmlns:p14="http://schemas.microsoft.com/office/powerpoint/2010/main" val="10672653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6418D1-750F-481D-97C1-BD090FE2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A056A0-FB25-4B38-A6BC-EDD5AD0E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4A2B8D-1FFE-4E19-9571-D7B6A248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39674-71DF-4727-9F13-FC190C85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result is also a leadership transfer from Mamata Banerjee to Suvendu Adhikari.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BC602-477F-426B-9D5F-DBAA4CC6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3AEEB-A651-4918-9C87-5893BD26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DD95B-6072-429D-9DB9-B8F3DDD1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TMC 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D747E-28CF-4A0C-8FC8-1701325C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Mamata Banerjee</a:t>
            </a:r>
          </a:p>
          <a:p xmlns:a="http://schemas.openxmlformats.org/drawingml/2006/main">
            <a:pPr algn="l">
              <a:defRPr sz="12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Chief Minister since 2011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9755C-60C4-41A2-8CB1-DC1EF28A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194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6E247-4D47-4C46-B1A8-E92C14E4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194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9C0EF-003A-4F72-B658-737B1A4F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Electoral 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FD06A-75F8-4C9B-861B-426D6B0C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67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Reported seat shift</a:t>
            </a:r>
          </a:p>
          <a:p xmlns:a="http://schemas.openxmlformats.org/drawingml/2006/main">
            <a:pPr algn="l">
              <a:defRPr sz="12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BJP 207 / TMC 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D3ADA-72A6-4ADA-9230-CF93DA9E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C5CB4-8CCD-4B20-AD42-CAC1EA14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45027-D861-4243-B4C3-EBFA1171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BJP government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60BBB-10F0-481E-9318-2888968C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Suvendu Adhikari</a:t>
            </a:r>
          </a:p>
          <a:p xmlns:a="http://schemas.openxmlformats.org/drawingml/2006/main">
            <a:pPr algn="l">
              <a:defRPr sz="12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sworn in May 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47EA4-90E5-43E6-9F50-89F14A6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6705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6DF8F-F548-44E9-B70F-11DEBDED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B2B67-07A2-4CA7-9D1A-5297BAC1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The research task is to connect this leadership transfer to voter behavior, institutions, and governance choices.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27DB8-7F4E-4208-942B-C44B5633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3580A-536B-4007-AE47-C2A3FA4F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Sources: Project India source log; early figures pending ECI verification.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F16B5-23F1-42E0-A9F9-B39DF06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Project India / 06</a:t>
            </a:r>
          </a:p>
        </p:txBody>
      </p:sp>
    </p:spTree>
    <p:extLst>
      <p:ext uri="{BB962C8B-B14F-4D97-AF65-F5344CB8AC3E}">
        <p14:creationId xmlns:p14="http://schemas.microsoft.com/office/powerpoint/2010/main" val="13028398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D02C8F-08CA-4CFE-857A-E541233F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C14B7FD-1C32-45BB-A39A-A454697F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EEA5C5A-296A-486D-B230-5B81D43B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DRIVERS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767F1-573C-4DBF-B53C-9CF9E0E9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verdict should be tested through several drivers, not one easy explanation.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6CC49-001A-4B26-B1D1-9F8FCF4C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300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888B8-2423-4CA3-B973-FD4C97B0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76357-F4E3-4E74-9F99-9B5C6CAB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Organization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6182C-389E-4DB1-8A76-503466EC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Booth depth, candidate selection, local conversion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983BB-7B99-4E8C-A611-9DC158EB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00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82BB5-80B9-46E4-BE4B-64524053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5FD15-DE5D-46F0-8198-5A58DF89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Anti-incumbency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1EA72-9895-4C78-821E-085052B8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Fatigue after TMC rule since 2011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8B668-E5F5-4329-8366-3E4E6496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300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E4AAB-C736-4257-AE26-CEE7186F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650C0-58E2-4C70-A631-9E50364B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Welfare politics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4E60B-54CA-40AC-AEEC-FA2A4AE0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Whether benefits held, weakened, or were reframed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E782A-B0AA-4808-BF80-08069155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300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E6FDF-5B2C-4F5B-887A-A3EC8C6B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DA1CD-0FA2-4FFD-B3B3-1ACAC893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Identity and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A87E0-A42E-4B21-86C3-7D778FE6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Border, religious, and law-and-order narratives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5E01A-36F6-435B-BD8D-083888FC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300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774D6-A124-4C22-A611-DE7E569C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56365-420C-4416-A288-98CC457F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Seat math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B4EB7-B18F-4DA1-9209-97D32D6A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148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Vote share versus seat conversion must be separated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BD0DE-8D5B-4586-91B1-6141DC9B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0450"/>
            <a:ext cx="300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3A066-7700-4C76-8437-C9647EE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04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5F75E-2DC0-4540-B06A-2B87F871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Turnout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A005D9-AD54-4589-85B9-8C28BC46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High turnout claims require official constituency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DA640-EF69-4C69-B418-4F0A990B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Hypothesis discipline: each box needs constituency data before it becomes a conclusion.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C02C8-23D8-4B46-8B04-C4A0FA76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08D355-B6CA-4265-8FF1-819AD5C6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Sources: Project India source log; early figures pending ECI verification.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D779DA-9A9D-47CA-A9F1-538CDBA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Project India / 07</a:t>
            </a:r>
          </a:p>
        </p:txBody>
      </p:sp>
    </p:spTree>
    <p:extLst>
      <p:ext uri="{BB962C8B-B14F-4D97-AF65-F5344CB8AC3E}">
        <p14:creationId xmlns:p14="http://schemas.microsoft.com/office/powerpoint/2010/main" val="17742351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361F8-C9FE-4C64-ADD5-8B4ABD61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574DB6-FAC6-4D4E-9633-A00C2E67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B9EB309-8829-4415-B117-FE83DEC3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83752-C767-439E-8BBD-6F1D93B3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mandate creates a governance opening, but the transition carries real risks.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9B4B7-3A77-4385-B6F4-6BD1F91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Opportunities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D7C05-2607-4130-8BF9-94E7F6E1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764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33A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33A3A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A82EB-3ED2-4A9B-A26A-D88CB0DC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4"/>
          </a:solidFill>
          <a:ln xmlns:a="http://schemas.openxmlformats.org/drawingml/2006/main" w="9525">
            <a:solidFill>
              <a:srgbClr val="7EB3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6F303-7446-4849-A76C-550F6DA3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622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Governance reset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C45E2-56AD-46C9-B977-F2850003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89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Infrastructure, industry, and delivery claims can be tested.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E5CF7-9938-491A-BDEF-6B91CA9A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4"/>
          </a:solidFill>
          <a:ln xmlns:a="http://schemas.openxmlformats.org/drawingml/2006/main" w="9525">
            <a:solidFill>
              <a:srgbClr val="7EB3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71E7C-D08B-4757-A9E1-4EF10EEB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Center-state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63279-9688-4F18-B4E9-0D310998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Bengal may gain faster coordination on border and capital projects.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9B17E-90A3-40D8-B08A-6E0AE65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4"/>
          </a:solidFill>
          <a:ln xmlns:a="http://schemas.openxmlformats.org/drawingml/2006/main" w="9525">
            <a:solidFill>
              <a:srgbClr val="7EB3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29BA7-3B54-4589-9840-B5A0E7F9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053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Political expansion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D3425-F357-4D74-9CA7-A816F567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BJP can use Bengal as an eastern India model.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81DE7-6611-472C-B8AC-0411D70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D8A2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F6964-0579-4631-A2D2-3F523945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622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Post-poll violence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682E9-6A2E-41AD-9CC6-C1BAF3EA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289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Transition may sharpen local conflict and retaliation.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18538-9724-4E0D-A624-80664934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00450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D8A2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B067E-33C0-4598-BC85-5C314F6E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Social polarization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82E80-CF43-4C8F-A501-EBE0A170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Minority trust and identity politics become governance tests.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FB487-AFB8-45F0-9823-FE5332D6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72000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D8A2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BA713-93C8-4519-B411-9287EA44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Narrative overreach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AB4A8-E6B8-4FFD-A24E-3D564FC2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720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Seat landslide can hide closer vote-share realities.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1D329-5562-49F1-BC75-0CDC5CB6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4FDF1-8400-4658-81D2-61B6DC3A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0003C-4CA9-4649-872E-E2F7664B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Sources: Project India source log; early figures pending ECI verification.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D5A79-7859-4039-8B79-0E5B51DC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Project India / 08</a:t>
            </a:r>
          </a:p>
        </p:txBody>
      </p:sp>
    </p:spTree>
    <p:extLst>
      <p:ext uri="{BB962C8B-B14F-4D97-AF65-F5344CB8AC3E}">
        <p14:creationId xmlns:p14="http://schemas.microsoft.com/office/powerpoint/2010/main" val="20358547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3E9B7F-FD54-492B-8A8A-A06E58EE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951A442-A7FC-4F6D-A515-F0DFC1C5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B58459-0725-4DA3-82EF-7BE94373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WATCHLIST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2EB2D-D2C4-441A-A67D-E9DE1456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first 100 days will reveal whether the win becomes a governing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416E8-7618-4C97-9BE8-54C4DBDC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26DC4-6097-48EB-A9C9-2B7A7295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14575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988EC-E30B-4EC3-8926-9B5E4AE2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52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Law and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F6F58-5EC2-4490-A469-3915CFB0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Post-poll violence, policing signals, political restraint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9CDCF-CF2F-470E-A847-72D4096D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1DA5A-3CA4-45A4-A55A-1E72D104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81325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D0324-26D3-4A23-997C-9DB571AC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Welfare continuity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BBC4C-6F07-477B-813C-54F36035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28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Lakshmir Bhandar and other TMC-era schemes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94583-CFA3-4089-A31D-BFDD3B60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5B0CF-4A9C-49C7-85CF-6C94776D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48075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60856-BDBF-49A7-9D05-D61027E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86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Industry and jobs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A39E2-63A4-4ECB-A835-AB34BBF2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956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Investment announcements, land, MSME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EC1F6-11C6-410A-86F1-0180C631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63CEA-5AEF-44BB-82D4-BC3030FD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14825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7EA7C-0789-48EC-B894-DED6543D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52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Center-state alignment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5E7DA-1E71-4C5E-B998-6EEDCCE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6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Infrastructure, border, and fiscal coordination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DBA9F-D456-47A1-A600-0E1BEEF9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DB98B-59C2-4BEB-94FA-83E72257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81575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EE4C0-91E7-4C2B-8BB0-F2C6037E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19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Opposition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C0765-E2A9-4188-A6BB-1D0F04F5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29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TMC rebuilding, leadership and street strategy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7BACBA-C08B-408D-98E0-8D56F0A0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14FA09-3136-44EB-A5AA-8B5829A2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Sources: Project India source log; early figures pending ECI verification.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BD5CF5-4181-47F4-AE41-AA3A82DA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Project India / 09</a:t>
            </a:r>
          </a:p>
        </p:txBody>
      </p:sp>
    </p:spTree>
    <p:extLst>
      <p:ext uri="{BB962C8B-B14F-4D97-AF65-F5344CB8AC3E}">
        <p14:creationId xmlns:p14="http://schemas.microsoft.com/office/powerpoint/2010/main" val="714839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7AE54-A08D-4FAE-A3BD-9AF1312D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8E600A-32AE-4F7C-86D3-D79B2EFF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2ED7494-8CB4-4869-8D82-64ECFC7E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A61"/>
                </a:solidFill>
                <a:latin typeface="Aptos"/>
                <a:ea typeface="Aptos"/>
                <a:cs typeface="Aptos"/>
              </a:rPr>
              <a:t>RESEARCH AGENDA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BE16A-17CB-45FC-BC90-E9FDC92E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next step is hard data: official results, margins, turnout, and geography.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C6568-C5F5-4687-876E-AC927828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60296-2069-4C68-A0FA-58FD4D01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398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Official ECI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81EA9-CEE8-426C-A31E-C7A07DB7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Party-wise tally, constituency winners, final Falta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ECBAC-B7CA-4776-AFCD-73FEFEDD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717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588D0-109B-4D4A-AAAB-F0713F76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398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Vote share and margins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59773-A710-48C0-A0FF-57FB6B04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Separate real swing from seat conversion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C209F-D970-4966-9018-DEACABC0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DC110-7A38-4EE4-8F1F-C4C4A241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8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Turnout geography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77EF7-528D-4BA4-A4B5-A9EC605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Phase, district, constituency, gender patterns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98744-5AB1-4BD4-8478-4A33E66B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66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22F85-0DCC-4264-ADD8-9F39F717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398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2021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DCEAB-8D7B-49E5-8C53-46B0C147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Seat-by-seat change and incumbent losses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FB468-1017-4215-9786-A1744522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9791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FCC47-C185-451B-B500-B3A1BA4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44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First 100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3824D-1FC9-4D53-BDA6-835F0F93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9448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Cabinet, welfare, law and order, industry, center-state moves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4FF5B-300D-4D4A-A29E-A5E8D169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This deck is the starting presentation layer. The next version should be rebuilt around official constituency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435B6-F47D-4113-ABF0-EAAB73EC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3EF5C-7ED3-4D73-839C-E0AB7524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Sources: Project India source log; early figures pending ECI verification.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EB6C2-5D15-49C7-AFAC-950D921D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Project India / 10</a:t>
            </a:r>
          </a:p>
        </p:txBody>
      </p:sp>
    </p:spTree>
    <p:extLst>
      <p:ext uri="{BB962C8B-B14F-4D97-AF65-F5344CB8AC3E}">
        <p14:creationId xmlns:p14="http://schemas.microsoft.com/office/powerpoint/2010/main" val="21165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2026-05-09T18:53:26.0340000Z</dcterms:created>
  <dcterms:modified xsi:type="dcterms:W3CDTF">2026-05-09T18:53:26.0340000Z</dcterms:modified>
</coreProperties>
</file>